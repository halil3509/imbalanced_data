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4"/>
  </p:notesMasterIdLst>
  <p:sldIdLst>
    <p:sldId id="256" r:id="rId5"/>
    <p:sldId id="286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08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0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4971" autoAdjust="0"/>
  </p:normalViewPr>
  <p:slideViewPr>
    <p:cSldViewPr snapToGrid="0">
      <p:cViewPr varScale="1">
        <p:scale>
          <a:sx n="85" d="100"/>
          <a:sy n="85" d="100"/>
        </p:scale>
        <p:origin x="76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D4900C-01EE-46CA-A883-DAD826A05E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96AD2-3556-46E9-81A7-F9AC6D2300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D501F26-AE23-435E-957F-6E18330EAFD6}" type="datetimeFigureOut">
              <a:rPr lang="en-US"/>
              <a:pPr>
                <a:defRPr/>
              </a:pPr>
              <a:t>5/25/2022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30E6C2B-14F2-4628-BAAE-17581220E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69F3A0B-EE31-4C4E-9959-DB6CA65D3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D7DCB-9884-42E4-B078-72CD05C14D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B5C80-B666-4CC5-987B-2DEF1EA45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107C503-2386-45BC-85D2-114C69644972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7C503-2386-45BC-85D2-114C69644972}" type="slidenum">
              <a:rPr lang="en-US" altLang="tr-TR" smtClean="0"/>
              <a:pPr/>
              <a:t>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33086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>
            <a:extLst>
              <a:ext uri="{FF2B5EF4-FFF2-40B4-BE49-F238E27FC236}">
                <a16:creationId xmlns:a16="http://schemas.microsoft.com/office/drawing/2014/main" id="{703F82C8-5FA0-4BBB-9A4E-6AC3DE3E3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4" name="Notes Placeholder 2">
            <a:extLst>
              <a:ext uri="{FF2B5EF4-FFF2-40B4-BE49-F238E27FC236}">
                <a16:creationId xmlns:a16="http://schemas.microsoft.com/office/drawing/2014/main" id="{88DFF645-12B0-49E3-9183-43BB0ED752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tr-TR" altLang="tr-TR" dirty="0"/>
              <a:t>Our presentation consists of 8 parts. 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7CB052A5-600A-4E82-B868-240264D63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FC109F5-2806-4378-83C7-54876B61FE2F}" type="slidenum">
              <a:rPr lang="en-US" altLang="tr-TR">
                <a:latin typeface="Calibri" panose="020F0502020204030204" pitchFamily="34" charset="0"/>
              </a:rPr>
              <a:pPr/>
              <a:t>2</a:t>
            </a:fld>
            <a:endParaRPr lang="en-US" altLang="tr-T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7C503-2386-45BC-85D2-114C69644972}" type="slidenum">
              <a:rPr lang="en-US" altLang="tr-TR" smtClean="0"/>
              <a:pPr/>
              <a:t>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29462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4A599D2D-5C42-4F57-A328-9E9202B22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805269B9-6F45-432C-92E9-D1779057B1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tr-TR" altLang="tr-TR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48DBCB0E-D267-42B5-9825-E81EC713C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31407A4-D39F-45C4-8E56-DEEBF2229D6E}" type="slidenum">
              <a:rPr lang="en-US" altLang="tr-TR">
                <a:latin typeface="Calibri" panose="020F0502020204030204" pitchFamily="34" charset="0"/>
              </a:rPr>
              <a:pPr/>
              <a:t>19</a:t>
            </a:fld>
            <a:endParaRPr lang="en-US" altLang="tr-T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4C25528-0B0B-4EFD-B9E8-30584F7734D8}"/>
              </a:ext>
            </a:extLst>
          </p:cNvPr>
          <p:cNvSpPr/>
          <p:nvPr userDrawn="1"/>
        </p:nvSpPr>
        <p:spPr bwMode="blackWhite">
          <a:xfrm>
            <a:off x="255588" y="263525"/>
            <a:ext cx="11680825" cy="6330950"/>
          </a:xfrm>
          <a:prstGeom prst="rect">
            <a:avLst/>
          </a:prstGeom>
          <a:solidFill>
            <a:srgbClr val="A01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AAFA6D2C-FDBA-4EA1-BC29-77B4615487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7" b="71478"/>
          <a:stretch>
            <a:fillRect/>
          </a:stretch>
        </p:blipFill>
        <p:spPr bwMode="auto">
          <a:xfrm>
            <a:off x="342900" y="4546600"/>
            <a:ext cx="1171575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tIns="0" bIns="0" rtlCol="0" anchor="t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rtlCol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tr-TR"/>
              <a:t>Asıl alt başlık stilini düzenlemek için tıklayın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6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7768D306-67BE-4A5B-BB59-7F1F70C2B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-360000">
              <a:spcAft>
                <a:spcPts val="1200"/>
              </a:spcAft>
              <a:buSzPct val="100000"/>
              <a:buFont typeface="Wingdings" pitchFamily="2" charset="2"/>
              <a:buChar char="§"/>
              <a:defRPr sz="2800"/>
            </a:lvl1pPr>
            <a:lvl2pPr marL="720000" indent="-3600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 sz="2400"/>
            </a:lvl2pPr>
            <a:lvl3pPr marL="1080000" indent="-270000">
              <a:buFont typeface="Wingdings" pitchFamily="2" charset="2"/>
              <a:buChar char="§"/>
              <a:defRPr/>
            </a:lvl3pPr>
            <a:lvl4pPr marL="1600200" indent="-228600">
              <a:buFont typeface="Segoe UI" panose="020B0502040204020203" pitchFamily="34" charset="0"/>
              <a:buNone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A7E4BC1-377B-4822-B58B-3204A082C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F83491-389F-4B48-98CD-5EB6BA4C3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E6DA73-B80F-437D-A7D7-7A8B145F5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Segoe UI" panose="020B0502040204020203" pitchFamily="34" charset="0"/>
              </a:defRPr>
            </a:lvl1pPr>
          </a:lstStyle>
          <a:p>
            <a:fld id="{41A1D152-6212-4740-8CC2-B12028B4D285}" type="slidenum">
              <a:rPr lang="en-US" altLang="tr-TR" smtClean="0"/>
              <a:pPr/>
              <a:t>‹#›</a:t>
            </a:fld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64398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F3F703AA-18E6-43DE-96C4-BF8AC9FC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SzPct val="100000"/>
              <a:buFont typeface="Wingdings" pitchFamily="2" charset="2"/>
              <a:buChar char="§"/>
              <a:defRPr lang="tr-TR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 lang="tr-TR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Wingdings" pitchFamily="2" charset="2"/>
              <a:buChar char="§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7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>
            <a:extLst>
              <a:ext uri="{FF2B5EF4-FFF2-40B4-BE49-F238E27FC236}">
                <a16:creationId xmlns:a16="http://schemas.microsoft.com/office/drawing/2014/main" id="{739A00F9-A651-4998-A362-D2381C94E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A206A2C-D4A1-4FC3-9793-6D0A4F754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8AD4205-54E1-402B-9905-939457F40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9426718-A746-43D0-B099-900228D64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Segoe UI" panose="020B0502040204020203" pitchFamily="34" charset="0"/>
              </a:defRPr>
            </a:lvl1pPr>
          </a:lstStyle>
          <a:p>
            <a:fld id="{41A1D152-6212-4740-8CC2-B12028B4D285}" type="slidenum">
              <a:rPr lang="en-US" altLang="tr-TR" smtClean="0"/>
              <a:pPr/>
              <a:t>‹#›</a:t>
            </a:fld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225657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DADEF8E0-214E-4031-BA9B-6D311B83DCE6}"/>
              </a:ext>
            </a:extLst>
          </p:cNvPr>
          <p:cNvSpPr/>
          <p:nvPr userDrawn="1"/>
        </p:nvSpPr>
        <p:spPr>
          <a:xfrm>
            <a:off x="255588" y="263525"/>
            <a:ext cx="11682412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EB65B39-BB74-47CA-88B9-CF8A82339985}"/>
              </a:ext>
            </a:extLst>
          </p:cNvPr>
          <p:cNvSpPr/>
          <p:nvPr userDrawn="1"/>
        </p:nvSpPr>
        <p:spPr bwMode="blackWhite">
          <a:xfrm>
            <a:off x="255588" y="263525"/>
            <a:ext cx="11680825" cy="2071688"/>
          </a:xfrm>
          <a:prstGeom prst="rect">
            <a:avLst/>
          </a:prstGeom>
          <a:solidFill>
            <a:srgbClr val="A01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1C36A34-DC11-4476-B554-3DBC03709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73405A8-96DC-49F1-B850-281F573EF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6BFB09-F338-4A09-A626-3AE64328F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Segoe UI" panose="020B0502040204020203" pitchFamily="34" charset="0"/>
              </a:defRPr>
            </a:lvl1pPr>
          </a:lstStyle>
          <a:p>
            <a:fld id="{41A1D152-6212-4740-8CC2-B12028B4D285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9500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26D3C638-BD29-4D8F-AE16-831C127A77AA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C563A1C9-E2F7-4672-9F85-5709CD703111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A019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81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F894CDF-2F95-4D67-A6F1-54473FDAB9FA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07497D32-A6BA-4AC5-B8F7-CC73FBAE9507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A019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8CC9C35-0372-4A3E-B7C8-BA69D95D3F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9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9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D22B80-073D-49D7-98FF-0D5338E7FAEA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3F00612D-CD5B-4641-A4C5-283BA40116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4838" y="449263"/>
            <a:ext cx="10982325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/>
              <a:t>Asıl başlık stilini düzenlemek için tıklayın</a:t>
            </a:r>
            <a:endParaRPr lang="en-US" altLang="tr-TR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8ADA5EA9-B3C2-4DDD-B954-11E0897A49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/>
              <a:t>Asıl metin stillerini düzenlemek için tıklayın</a:t>
            </a:r>
          </a:p>
          <a:p>
            <a:pPr lvl="1"/>
            <a:r>
              <a:rPr lang="tr-TR" altLang="tr-TR"/>
              <a:t>İkinci düzey</a:t>
            </a:r>
          </a:p>
          <a:p>
            <a:pPr lvl="2"/>
            <a:r>
              <a:rPr lang="tr-TR" altLang="tr-TR"/>
              <a:t>Üçüncü düzey</a:t>
            </a:r>
          </a:p>
          <a:p>
            <a:pPr lvl="3"/>
            <a:r>
              <a:rPr lang="tr-TR" altLang="tr-TR"/>
              <a:t>Dördüncü düzey</a:t>
            </a:r>
          </a:p>
          <a:p>
            <a:pPr lvl="4"/>
            <a:r>
              <a:rPr lang="tr-TR" altLang="tr-TR"/>
              <a:t>Beşinci düzey</a:t>
            </a:r>
            <a:endParaRPr lang="en-US" alt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8E0EC-CF44-4305-AB9C-6FBD16348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08987-9019-404A-928D-07CA77344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FD9F-C768-43C9-9239-86B15191C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Segoe UI" panose="020B0502040204020203" pitchFamily="34" charset="0"/>
              </a:defRPr>
            </a:lvl1pPr>
          </a:lstStyle>
          <a:p>
            <a:fld id="{41A1D152-6212-4740-8CC2-B12028B4D285}" type="slidenum">
              <a:rPr lang="en-US" altLang="tr-TR" smtClean="0"/>
              <a:pPr/>
              <a:t>‹#›</a:t>
            </a:fld>
            <a:endParaRPr lang="en-US" altLang="tr-TR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A8B6BE-40E1-470D-A612-D56B87531C96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A019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</p:sldLayoutIdLst>
  <p:hf hd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lang="en-US" sz="2800" kern="1200">
          <a:solidFill>
            <a:srgbClr val="3B383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3B3838"/>
          </a:solidFill>
          <a:latin typeface="Segoe UI Light" panose="020B0502040204020203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3C18545B-68DE-4FAA-849D-D35BA8A7E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218284"/>
            <a:ext cx="10668000" cy="1790700"/>
          </a:xfrm>
        </p:spPr>
        <p:txBody>
          <a:bodyPr/>
          <a:lstStyle/>
          <a:p>
            <a:pPr algn="ctr"/>
            <a:r>
              <a:rPr lang="tr-TR" sz="4000" dirty="0"/>
              <a:t>Dengesiz Verisetleri</a:t>
            </a:r>
            <a:br>
              <a:rPr lang="tr-TR" sz="4000" dirty="0"/>
            </a:br>
            <a:r>
              <a:rPr lang="tr-TR" sz="4000" dirty="0"/>
              <a:t> ve </a:t>
            </a:r>
            <a:br>
              <a:rPr lang="tr-TR" sz="4000" dirty="0"/>
            </a:br>
            <a:r>
              <a:rPr lang="tr-TR" sz="4000" dirty="0"/>
              <a:t>Başa Çıkma Yöntemleri</a:t>
            </a:r>
            <a:endParaRPr lang="en-US" altLang="tr-TR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1EF30-6CBA-460C-89B5-667139451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165" y="3429000"/>
            <a:ext cx="2850306" cy="777568"/>
          </a:xfrm>
        </p:spPr>
        <p:txBody>
          <a:bodyPr/>
          <a:lstStyle/>
          <a:p>
            <a:r>
              <a:rPr lang="tr-TR" dirty="0"/>
              <a:t>Halil İbrahim HATUN</a:t>
            </a:r>
          </a:p>
        </p:txBody>
      </p:sp>
      <p:sp>
        <p:nvSpPr>
          <p:cNvPr id="11267" name="AutoShape 8" descr="https://www.maltepe.edu.tr/Content/MainWebsite/img/maltepe-uni-logo.svg">
            <a:extLst>
              <a:ext uri="{FF2B5EF4-FFF2-40B4-BE49-F238E27FC236}">
                <a16:creationId xmlns:a16="http://schemas.microsoft.com/office/drawing/2014/main" id="{5E081DB5-F880-4FF8-888A-29208DD84C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tr-TR" altLang="tr-TR">
              <a:latin typeface="Segoe UI" panose="020B0502040204020203" pitchFamily="34" charset="0"/>
            </a:endParaRPr>
          </a:p>
        </p:txBody>
      </p:sp>
      <p:sp>
        <p:nvSpPr>
          <p:cNvPr id="11268" name="AutoShape 10" descr="https://www.maltepe.edu.tr/Content/MainWebsite/img/maltepe-uni-logo.svg">
            <a:extLst>
              <a:ext uri="{FF2B5EF4-FFF2-40B4-BE49-F238E27FC236}">
                <a16:creationId xmlns:a16="http://schemas.microsoft.com/office/drawing/2014/main" id="{EE84978C-E2B7-4360-82AC-0F03AACE5E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tr-TR" altLang="tr-TR">
              <a:latin typeface="Segoe UI" panose="020B0502040204020203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8CD14-C156-4DD6-8A80-996C247494A6}"/>
              </a:ext>
            </a:extLst>
          </p:cNvPr>
          <p:cNvSpPr txBox="1">
            <a:spLocks/>
          </p:cNvSpPr>
          <p:nvPr/>
        </p:nvSpPr>
        <p:spPr bwMode="auto">
          <a:xfrm>
            <a:off x="6096000" y="3644461"/>
            <a:ext cx="5874327" cy="257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D511E20-E60E-CED3-F8CE-B68ADC8BA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2733" y="4149629"/>
            <a:ext cx="2706532" cy="2706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2 Başlık">
            <a:extLst>
              <a:ext uri="{FF2B5EF4-FFF2-40B4-BE49-F238E27FC236}">
                <a16:creationId xmlns:a16="http://schemas.microsoft.com/office/drawing/2014/main" id="{B2D4ECB4-C7DA-4A9A-B141-C8E55865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7" y="573441"/>
            <a:ext cx="10982325" cy="747712"/>
          </a:xfrm>
        </p:spPr>
        <p:txBody>
          <a:bodyPr/>
          <a:lstStyle/>
          <a:p>
            <a:r>
              <a:rPr lang="tr-TR" sz="2800" b="1" i="0" dirty="0">
                <a:solidFill>
                  <a:schemeClr val="tx1"/>
                </a:solidFill>
                <a:effectLst/>
                <a:latin typeface="-apple-system"/>
              </a:rPr>
              <a:t>Dengesiz Veri Seti Nedir?</a:t>
            </a:r>
            <a:endParaRPr lang="tr-TR" altLang="tr-TR" dirty="0">
              <a:solidFill>
                <a:schemeClr val="tx1"/>
              </a:solidFill>
            </a:endParaRP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DC22D71-EDF5-45FC-90BB-F78A157AA3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253F55E-222F-412E-84C3-4EDE18737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Dengesiz Verisetleri</a:t>
            </a: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56EDCC4-A1CC-4E59-B284-2B450EB61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A1D152-6212-4740-8CC2-B12028B4D285}" type="slidenum">
              <a:rPr lang="en-US" altLang="tr-TR" smtClean="0"/>
              <a:pPr/>
              <a:t>2</a:t>
            </a:fld>
            <a:endParaRPr lang="en-US" alt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5E01729-0ADE-D771-2E45-E1D2EA6184A1}"/>
              </a:ext>
            </a:extLst>
          </p:cNvPr>
          <p:cNvSpPr txBox="1"/>
          <p:nvPr/>
        </p:nvSpPr>
        <p:spPr>
          <a:xfrm>
            <a:off x="722489" y="1331887"/>
            <a:ext cx="1076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0" i="0" dirty="0">
                <a:effectLst/>
                <a:latin typeface="-apple-system"/>
              </a:rPr>
              <a:t>Sınıflandırma yaparken, sınıfların eşit dağılmadığı, yani her sınıf için yaklaşık olarak aynı sayıda verinin olmadığı veri kümesidir.</a:t>
            </a:r>
            <a:endParaRPr lang="tr-TR" dirty="0"/>
          </a:p>
        </p:txBody>
      </p:sp>
      <p:pic>
        <p:nvPicPr>
          <p:cNvPr id="10" name="İçerik Yer Tutucusu 4">
            <a:extLst>
              <a:ext uri="{FF2B5EF4-FFF2-40B4-BE49-F238E27FC236}">
                <a16:creationId xmlns:a16="http://schemas.microsoft.com/office/drawing/2014/main" id="{C2B9C5AF-05C9-B7E3-9D92-B83EF2C6C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822"/>
            <a:ext cx="7992590" cy="3877216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EABE8124-A705-11D6-6659-7B396E733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2136905" y="1604211"/>
            <a:ext cx="7918186" cy="4572752"/>
          </a:xfrm>
          <a:prstGeom prst="rect">
            <a:avLst/>
          </a:prstGeom>
          <a:noFill/>
          <a:effectLst>
            <a:outerShdw blurRad="165100" dist="38100" dir="5400000" sx="102000" sy="102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BC7DFF29-C776-49DC-4C47-48415A41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/>
          <a:lstStyle/>
          <a:p>
            <a:r>
              <a:rPr lang="tr-TR" sz="2800" b="1" i="0" dirty="0">
                <a:solidFill>
                  <a:schemeClr val="tx1"/>
                </a:solidFill>
                <a:effectLst/>
                <a:latin typeface="-apple-system"/>
              </a:rPr>
              <a:t>Dengesiz Veri Seti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406F2-C3D3-31E3-A5A5-8B1D838BA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E6F91-6907-3D0C-85CC-4E5F8EEA9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9D0BD-A6C7-33A6-1565-391F20EC0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79102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İçerik Yer Tutucusu 6">
            <a:extLst>
              <a:ext uri="{FF2B5EF4-FFF2-40B4-BE49-F238E27FC236}">
                <a16:creationId xmlns:a16="http://schemas.microsoft.com/office/drawing/2014/main" id="{23C470AF-D718-B6F1-C4A1-64C52685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4433" y="2311762"/>
            <a:ext cx="10983131" cy="3157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Başlık 2">
            <a:extLst>
              <a:ext uri="{FF2B5EF4-FFF2-40B4-BE49-F238E27FC236}">
                <a16:creationId xmlns:a16="http://schemas.microsoft.com/office/drawing/2014/main" id="{D5EC77FC-FE69-BF56-1321-9EF526A5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pPr indent="0">
              <a:buNone/>
            </a:pPr>
            <a:r>
              <a:rPr lang="tr-TR" sz="2200" b="0" i="0">
                <a:effectLst/>
              </a:rPr>
              <a:t>Azınlık Sınıfın tüm veri seti içindeki oranına göre dengesiz veri seti şiddetini de bu ölçeklendirmeye göre yapıyoruz.</a:t>
            </a:r>
            <a:endParaRPr lang="tr-TR" sz="220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2EE1DA8-D388-7E2C-23BD-05D82AC84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04A1358-1B25-E7B2-7449-B6169B077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D39955A-A3BC-7E5C-1098-F41E19DB7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0147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F7CD53F4-B32A-7880-0B0E-03B1E8ACC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58" y="1441714"/>
            <a:ext cx="3192379" cy="4669896"/>
          </a:xfrm>
        </p:spPr>
        <p:txBody>
          <a:bodyPr/>
          <a:lstStyle/>
          <a:p>
            <a:r>
              <a:rPr lang="tr-TR" sz="1800" b="0" i="0" dirty="0">
                <a:effectLst/>
                <a:latin typeface="-apple-system"/>
              </a:rPr>
              <a:t>Resimde görüldüğü gibi </a:t>
            </a:r>
            <a:r>
              <a:rPr lang="tr-TR" sz="1800" b="0" i="0" dirty="0" err="1">
                <a:effectLst/>
                <a:latin typeface="-apple-system"/>
              </a:rPr>
              <a:t>accuracy</a:t>
            </a:r>
            <a:r>
              <a:rPr lang="tr-TR" sz="1800" b="0" i="0" dirty="0">
                <a:effectLst/>
                <a:latin typeface="-apple-system"/>
              </a:rPr>
              <a:t> değerimiz 90/100'den %90 gelmekte. Yani modelimiz iyi çalışıyor buna bir şey yapmaya gerek yok zaten %90 doğruluk var diye düşünürüz. İşte buna "Doğruluk Paradoksu" denir. Doğruluk metriği bizim için önemlidir fakat dengesiz veri setleri geçerli bir metrik değildir.</a:t>
            </a:r>
            <a:endParaRPr lang="en-US" sz="1800" dirty="0"/>
          </a:p>
          <a:p>
            <a:endParaRPr lang="en-US" sz="1600" dirty="0"/>
          </a:p>
        </p:txBody>
      </p:sp>
      <p:pic>
        <p:nvPicPr>
          <p:cNvPr id="7" name="İçerik Yer Tutucusu 6" descr="tablo içeren bir resim&#10;&#10;Açıklama otomatik olarak oluşturuldu">
            <a:extLst>
              <a:ext uri="{FF2B5EF4-FFF2-40B4-BE49-F238E27FC236}">
                <a16:creationId xmlns:a16="http://schemas.microsoft.com/office/drawing/2014/main" id="{447742C2-B290-3C25-670A-2E3B184AEBF5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395537" y="2556114"/>
            <a:ext cx="7143905" cy="2571804"/>
          </a:xfrm>
          <a:prstGeom prst="roundRect">
            <a:avLst>
              <a:gd name="adj" fmla="val 3517"/>
            </a:avLst>
          </a:prstGeom>
          <a:noFill/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A1C28C45-8E13-6E53-A07E-93E74131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b="1" i="0">
                <a:effectLst/>
              </a:rPr>
              <a:t>Doğruluk Paradoksu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245C66-FA55-D6CF-FC70-4F2F2DC61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0D807DD-AD75-E16C-E44C-739737328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B01BD3A-B05C-F523-F391-E32BB04DA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67941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E83A2FD4-D4D7-90BA-E1B3-D474F53F0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2906888"/>
          </a:xfrm>
        </p:spPr>
        <p:txBody>
          <a:bodyPr/>
          <a:lstStyle/>
          <a:p>
            <a:r>
              <a:rPr lang="tr-TR" sz="1800" dirty="0"/>
              <a:t>Modelin değerlendirmede Doğruluk dışında Precision(Duyarlılık), </a:t>
            </a:r>
            <a:r>
              <a:rPr lang="tr-TR" sz="1800" dirty="0" err="1"/>
              <a:t>Recall</a:t>
            </a:r>
            <a:r>
              <a:rPr lang="tr-TR" sz="1800" dirty="0"/>
              <a:t>(Hassasiyet), F1 </a:t>
            </a:r>
            <a:r>
              <a:rPr lang="tr-TR" sz="1800" dirty="0" err="1"/>
              <a:t>Score</a:t>
            </a:r>
            <a:r>
              <a:rPr lang="tr-TR" sz="1800" dirty="0"/>
              <a:t> metriklerine bakabiliriz.</a:t>
            </a:r>
          </a:p>
          <a:p>
            <a:endParaRPr lang="tr-TR" sz="1800" dirty="0"/>
          </a:p>
        </p:txBody>
      </p:sp>
      <p:sp>
        <p:nvSpPr>
          <p:cNvPr id="4" name="Başlık 3">
            <a:extLst>
              <a:ext uri="{FF2B5EF4-FFF2-40B4-BE49-F238E27FC236}">
                <a16:creationId xmlns:a16="http://schemas.microsoft.com/office/drawing/2014/main" id="{BB983F6B-4041-7972-65B2-B108B3D4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b="1" dirty="0"/>
              <a:t>Peki modelin değerlendirmesini nasıl yapacağız?</a:t>
            </a:r>
            <a:endParaRPr lang="tr-TR" b="1" dirty="0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3923B76-D96D-9F0E-5AA3-399831F4E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F6F2BAF-06CE-1C8E-FDA0-88E7ADFE4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03AC84B-4B05-B795-EA51-1E6542874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A1D152-6212-4740-8CC2-B12028B4D285}" type="slidenum">
              <a:rPr lang="en-US" altLang="tr-TR" smtClean="0"/>
              <a:pPr/>
              <a:t>6</a:t>
            </a:fld>
            <a:endParaRPr lang="en-US" altLang="tr-TR" dirty="0"/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B886B6D1-FA0B-21DF-664F-C6CAB6F8A90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443413" y="1926299"/>
            <a:ext cx="7143750" cy="222788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2743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AFA5AC3-85FE-C3DF-F3DA-570E0215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2"/>
            <a:ext cx="11049903" cy="640080"/>
          </a:xfrm>
        </p:spPr>
        <p:txBody>
          <a:bodyPr>
            <a:noAutofit/>
          </a:bodyPr>
          <a:lstStyle/>
          <a:p>
            <a:r>
              <a:rPr lang="tr-TR" sz="2400" b="0" i="0" dirty="0">
                <a:solidFill>
                  <a:srgbClr val="FFFFFF"/>
                </a:solidFill>
                <a:effectLst/>
                <a:latin typeface="-apple-system"/>
              </a:rPr>
              <a:t>Aşağıdaki görüntüye de baktığımızda dengesiz bir veri setinin bizi nasıl </a:t>
            </a:r>
            <a:r>
              <a:rPr lang="tr-TR" sz="2400" b="0" i="0" dirty="0" err="1">
                <a:solidFill>
                  <a:srgbClr val="FFFFFF"/>
                </a:solidFill>
                <a:effectLst/>
                <a:latin typeface="-apple-system"/>
              </a:rPr>
              <a:t>accuracy</a:t>
            </a:r>
            <a:r>
              <a:rPr lang="tr-TR" sz="2400" b="0" i="0" dirty="0">
                <a:solidFill>
                  <a:srgbClr val="FFFFFF"/>
                </a:solidFill>
                <a:effectLst/>
                <a:latin typeface="-apple-system"/>
              </a:rPr>
              <a:t> parametresi ile yanılttığını net bir şekilde görüyoruz.</a:t>
            </a:r>
            <a:endParaRPr lang="en-US" sz="2400" dirty="0"/>
          </a:p>
        </p:txBody>
      </p:sp>
      <p:pic>
        <p:nvPicPr>
          <p:cNvPr id="8" name="İçerik Yer Tutucusu 4" descr="metin, açık hava, siyah, skorbord içeren bir resim&#10;&#10;Açıklama otomatik olarak oluşturuldu">
            <a:extLst>
              <a:ext uri="{FF2B5EF4-FFF2-40B4-BE49-F238E27FC236}">
                <a16:creationId xmlns:a16="http://schemas.microsoft.com/office/drawing/2014/main" id="{C73DE544-4D9F-8DCA-23D6-E2F295B919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39496" y="2766254"/>
            <a:ext cx="9445752" cy="3565771"/>
          </a:xfrm>
          <a:prstGeom prst="roundRect">
            <a:avLst>
              <a:gd name="adj" fmla="val 3517"/>
            </a:avLst>
          </a:prstGeom>
          <a:noFill/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6A28834-F352-7614-62AC-5C6E3E37B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57BC87-32C6-0D2D-B09A-B177DAD3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8335D9-AAA8-8E63-6C99-AEE5AAA8D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338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1649F2-140A-EA4F-713D-8769C6E7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dirty="0" err="1">
                <a:solidFill>
                  <a:srgbClr val="FFFFFF"/>
                </a:solidFill>
                <a:effectLst/>
                <a:latin typeface="-apple-system"/>
              </a:rPr>
              <a:t>Çözüm</a:t>
            </a:r>
            <a:r>
              <a:rPr lang="fr-FR" b="1" i="0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fr-FR" b="1" i="0" dirty="0" err="1">
                <a:solidFill>
                  <a:srgbClr val="FFFFFF"/>
                </a:solidFill>
                <a:effectLst/>
                <a:latin typeface="-apple-system"/>
              </a:rPr>
              <a:t>yolu</a:t>
            </a:r>
            <a:r>
              <a:rPr lang="fr-FR" b="1" i="0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fr-FR" b="1" i="0" dirty="0" err="1">
                <a:solidFill>
                  <a:srgbClr val="FFFFFF"/>
                </a:solidFill>
                <a:effectLst/>
                <a:latin typeface="-apple-system"/>
              </a:rPr>
              <a:t>olarak</a:t>
            </a:r>
            <a:r>
              <a:rPr lang="fr-FR" b="1" i="0" dirty="0">
                <a:solidFill>
                  <a:srgbClr val="FFFFFF"/>
                </a:solidFill>
                <a:effectLst/>
                <a:latin typeface="-apple-system"/>
              </a:rPr>
              <a:t> ne </a:t>
            </a:r>
            <a:r>
              <a:rPr lang="fr-FR" b="1" i="0" dirty="0" err="1">
                <a:solidFill>
                  <a:srgbClr val="FFFFFF"/>
                </a:solidFill>
                <a:effectLst/>
                <a:latin typeface="-apple-system"/>
              </a:rPr>
              <a:t>yapabiliriz</a:t>
            </a:r>
            <a:r>
              <a:rPr lang="fr-FR" b="1" i="0" dirty="0">
                <a:solidFill>
                  <a:srgbClr val="FFFFFF"/>
                </a:solidFill>
                <a:effectLst/>
                <a:latin typeface="-apple-system"/>
              </a:rPr>
              <a:t>?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B820C9-EEA3-B60F-C7CC-921413C92A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 Bunu yapabilmemizin yollarından biri </a:t>
            </a:r>
            <a:r>
              <a:rPr lang="tr-TR" b="1" i="0" u="sng" dirty="0">
                <a:solidFill>
                  <a:schemeClr val="tx1"/>
                </a:solidFill>
                <a:effectLst/>
                <a:latin typeface="-apple-system"/>
              </a:rPr>
              <a:t>EĞİTİM</a:t>
            </a: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 setini yeniden örneklemektir. (</a:t>
            </a:r>
            <a:r>
              <a:rPr lang="tr-TR" b="0" i="0" dirty="0" err="1">
                <a:solidFill>
                  <a:schemeClr val="tx1"/>
                </a:solidFill>
                <a:effectLst/>
                <a:latin typeface="-apple-system"/>
              </a:rPr>
              <a:t>Resampling</a:t>
            </a: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) </a:t>
            </a:r>
            <a:b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</a:b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  </a:t>
            </a:r>
            <a:r>
              <a:rPr lang="tr-TR" b="0" i="0" dirty="0" err="1">
                <a:solidFill>
                  <a:schemeClr val="tx1"/>
                </a:solidFill>
                <a:effectLst/>
                <a:latin typeface="-apple-system"/>
              </a:rPr>
              <a:t>Resampling</a:t>
            </a: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 kavramını iki alt başlıkta inceleyebiliriz.</a:t>
            </a:r>
          </a:p>
          <a:p>
            <a:pPr marL="0" indent="0" algn="l">
              <a:buNone/>
            </a:pP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    1- </a:t>
            </a:r>
            <a:r>
              <a:rPr lang="tr-TR" b="1" i="0" dirty="0" err="1">
                <a:solidFill>
                  <a:schemeClr val="tx1"/>
                </a:solidFill>
                <a:effectLst/>
                <a:latin typeface="-apple-system"/>
              </a:rPr>
              <a:t>Over-Sampling</a:t>
            </a:r>
            <a:b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</a:br>
            <a:r>
              <a:rPr lang="tr-TR" b="0" i="0" dirty="0">
                <a:solidFill>
                  <a:schemeClr val="tx1"/>
                </a:solidFill>
                <a:effectLst/>
                <a:latin typeface="-apple-system"/>
              </a:rPr>
              <a:t>    2- </a:t>
            </a:r>
            <a:r>
              <a:rPr lang="tr-TR" b="1" i="0" dirty="0">
                <a:solidFill>
                  <a:schemeClr val="tx1"/>
                </a:solidFill>
                <a:effectLst/>
                <a:latin typeface="-apple-system"/>
              </a:rPr>
              <a:t>Under-</a:t>
            </a:r>
            <a:r>
              <a:rPr lang="tr-TR" b="1" i="0" dirty="0" err="1">
                <a:solidFill>
                  <a:schemeClr val="tx1"/>
                </a:solidFill>
                <a:effectLst/>
                <a:latin typeface="-apple-system"/>
              </a:rPr>
              <a:t>Sampling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6DE663A-E677-EF51-D809-14B0D21C3D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88DDAC9-5D9D-223F-F65A-6E406305C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90FA9E-40A0-C702-A7D3-C6886BEA3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A1D152-6212-4740-8CC2-B12028B4D285}" type="slidenum">
              <a:rPr lang="en-US" altLang="tr-TR" smtClean="0"/>
              <a:pPr/>
              <a:t>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1056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55FC2A75-6A95-1AE8-696B-AC906DC18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4433" y="2064641"/>
            <a:ext cx="10983131" cy="3651891"/>
          </a:xfrm>
          <a:prstGeom prst="rect">
            <a:avLst/>
          </a:prstGeom>
          <a:noFill/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B368044E-5C4A-E85E-4E90-730F135F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/>
          <a:lstStyle/>
          <a:p>
            <a:r>
              <a:rPr lang="tr-TR" b="1" dirty="0" err="1"/>
              <a:t>Resampling</a:t>
            </a:r>
            <a:endParaRPr lang="en-US" b="1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C4AA8F6-72C0-2932-D449-9C871E4D8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9359F2-1697-61FC-7DE8-2D7832349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901A90-AB42-A20F-37FE-B370BD8B3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98604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F0B85F39-A484-71B6-7308-7CF4B5B2C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2416" y="1604211"/>
            <a:ext cx="7527164" cy="4572752"/>
          </a:xfrm>
          <a:prstGeom prst="rect">
            <a:avLst/>
          </a:prstGeom>
          <a:noFill/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A440A025-86A1-FEB9-5F57-A7DD71D6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/>
          <a:lstStyle/>
          <a:p>
            <a:r>
              <a:rPr lang="tr-TR" b="1" dirty="0" err="1"/>
              <a:t>Resampling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51EF87-F224-316A-F5C0-7A8FF9C01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4DF3047-05A1-E82B-B6C1-226141643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8AEFBDE-5A72-A8AA-1D1B-8FBB88120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8218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EEE604E6-DBF7-0088-77F7-B17FD5A0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tr-TR" sz="2000" b="0" i="0" dirty="0">
                <a:effectLst/>
                <a:latin typeface="-apple-system"/>
              </a:rPr>
              <a:t>Azınlık sınıfına ait verileri çeşitli yöntemlerle arttırarak eşit sayıda veriye sahip sınıflar elde etmek.</a:t>
            </a:r>
            <a:br>
              <a:rPr lang="tr-TR" sz="2000" b="0" i="0" dirty="0">
                <a:effectLst/>
                <a:latin typeface="-apple-system"/>
              </a:rPr>
            </a:br>
            <a:endParaRPr lang="tr-TR" sz="2000" b="0" i="0" dirty="0"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tr-TR" sz="2000" b="0" i="0" dirty="0">
                <a:effectLst/>
                <a:latin typeface="-apple-system"/>
              </a:rPr>
              <a:t>Bunlardan bazıları:</a:t>
            </a:r>
            <a:br>
              <a:rPr lang="tr-TR" sz="2000" b="0" i="0" dirty="0">
                <a:effectLst/>
                <a:latin typeface="-apple-system"/>
              </a:rPr>
            </a:br>
            <a:br>
              <a:rPr lang="tr-TR" sz="2000" b="0" i="0" dirty="0">
                <a:effectLst/>
                <a:latin typeface="-apple-system"/>
              </a:rPr>
            </a:br>
            <a:endParaRPr lang="tr-TR" sz="2000" b="0" i="0" dirty="0">
              <a:effectLst/>
              <a:latin typeface="-apple-system"/>
            </a:endParaRPr>
          </a:p>
          <a:p>
            <a:pPr marL="342900" indent="-342900"/>
            <a:r>
              <a:rPr lang="tr-TR" sz="2000" b="0" i="0" dirty="0">
                <a:effectLst/>
                <a:latin typeface="-apple-system"/>
              </a:rPr>
              <a:t>SMOTE (</a:t>
            </a:r>
            <a:r>
              <a:rPr lang="tr-TR" sz="2000" b="0" i="0" dirty="0" err="1">
                <a:effectLst/>
                <a:latin typeface="-apple-system"/>
              </a:rPr>
              <a:t>Synthetic</a:t>
            </a:r>
            <a:r>
              <a:rPr lang="tr-TR" sz="2000" b="0" i="0" dirty="0">
                <a:effectLst/>
                <a:latin typeface="-apple-system"/>
              </a:rPr>
              <a:t> </a:t>
            </a:r>
            <a:r>
              <a:rPr lang="tr-TR" sz="2000" b="0" i="0" dirty="0" err="1">
                <a:effectLst/>
                <a:latin typeface="-apple-system"/>
              </a:rPr>
              <a:t>Minority</a:t>
            </a:r>
            <a:r>
              <a:rPr lang="tr-TR" sz="2000" b="0" i="0" dirty="0">
                <a:effectLst/>
                <a:latin typeface="-apple-system"/>
              </a:rPr>
              <a:t> </a:t>
            </a:r>
            <a:r>
              <a:rPr lang="tr-TR" sz="2000" b="0" i="0" dirty="0" err="1">
                <a:effectLst/>
                <a:latin typeface="-apple-system"/>
              </a:rPr>
              <a:t>Oversampling</a:t>
            </a:r>
            <a:r>
              <a:rPr lang="tr-TR" sz="2000" b="0" i="0" dirty="0">
                <a:effectLst/>
                <a:latin typeface="-apple-system"/>
              </a:rPr>
              <a:t> </a:t>
            </a:r>
            <a:r>
              <a:rPr lang="tr-TR" sz="2000" b="0" i="0" dirty="0" err="1">
                <a:effectLst/>
                <a:latin typeface="-apple-system"/>
              </a:rPr>
              <a:t>Technique</a:t>
            </a:r>
            <a:r>
              <a:rPr lang="tr-TR" sz="2000" b="0" i="0" dirty="0">
                <a:effectLst/>
                <a:latin typeface="-apple-system"/>
              </a:rPr>
              <a:t>)</a:t>
            </a:r>
            <a:br>
              <a:rPr lang="tr-TR" sz="2000" b="0" i="0" dirty="0">
                <a:effectLst/>
                <a:latin typeface="-apple-system"/>
              </a:rPr>
            </a:br>
            <a:endParaRPr lang="tr-TR" sz="2000" b="0" i="0" dirty="0">
              <a:effectLst/>
              <a:latin typeface="-apple-system"/>
            </a:endParaRPr>
          </a:p>
          <a:p>
            <a:pPr marL="342900" indent="-342900"/>
            <a:r>
              <a:rPr lang="tr-TR" sz="2000" b="0" i="0" dirty="0">
                <a:effectLst/>
                <a:latin typeface="-apple-system"/>
              </a:rPr>
              <a:t>ADASYN (</a:t>
            </a:r>
            <a:r>
              <a:rPr lang="tr-TR" sz="2000" b="0" i="0" dirty="0" err="1">
                <a:effectLst/>
                <a:latin typeface="-apple-system"/>
              </a:rPr>
              <a:t>Adaptive</a:t>
            </a:r>
            <a:r>
              <a:rPr lang="tr-TR" sz="2000" b="0" i="0" dirty="0">
                <a:effectLst/>
                <a:latin typeface="-apple-system"/>
              </a:rPr>
              <a:t> </a:t>
            </a:r>
            <a:r>
              <a:rPr lang="tr-TR" sz="2000" b="0" i="0" dirty="0" err="1">
                <a:effectLst/>
                <a:latin typeface="-apple-system"/>
              </a:rPr>
              <a:t>Synthetic</a:t>
            </a:r>
            <a:r>
              <a:rPr lang="tr-TR" sz="2000" b="0" i="0" dirty="0">
                <a:effectLst/>
                <a:latin typeface="-apple-system"/>
              </a:rPr>
              <a:t> </a:t>
            </a:r>
            <a:r>
              <a:rPr lang="tr-TR" sz="2000" b="0" i="0" dirty="0" err="1">
                <a:effectLst/>
                <a:latin typeface="-apple-system"/>
              </a:rPr>
              <a:t>Sampling</a:t>
            </a:r>
            <a:r>
              <a:rPr lang="tr-TR" sz="2000" b="0" i="0" dirty="0">
                <a:effectLst/>
                <a:latin typeface="-apple-system"/>
              </a:rPr>
              <a:t> </a:t>
            </a:r>
            <a:r>
              <a:rPr lang="tr-TR" sz="2000" b="0" i="0" dirty="0" err="1">
                <a:effectLst/>
                <a:latin typeface="-apple-system"/>
              </a:rPr>
              <a:t>Method</a:t>
            </a:r>
            <a:r>
              <a:rPr lang="tr-TR" sz="2000" b="0" i="0" dirty="0">
                <a:effectLst/>
                <a:latin typeface="-apple-system"/>
              </a:rPr>
              <a:t>) algoritmalarıdır</a:t>
            </a:r>
          </a:p>
          <a:p>
            <a:endParaRPr lang="tr-TR" sz="20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043EC2AF-FCCF-3D22-5348-DD3FFFA4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i="0" dirty="0">
                <a:solidFill>
                  <a:schemeClr val="tx1"/>
                </a:solidFill>
                <a:effectLst/>
                <a:latin typeface="-apple-system"/>
              </a:rPr>
              <a:t>1- </a:t>
            </a:r>
            <a:r>
              <a:rPr lang="tr-TR" b="1" i="0" dirty="0" err="1">
                <a:solidFill>
                  <a:schemeClr val="tx1"/>
                </a:solidFill>
                <a:effectLst/>
                <a:latin typeface="-apple-system"/>
              </a:rPr>
              <a:t>Over-Sampling</a:t>
            </a:r>
            <a:endParaRPr lang="tr-TR" b="1" dirty="0">
              <a:solidFill>
                <a:schemeClr val="tx1"/>
              </a:solidFill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340677E-68F8-32EB-2AE3-4047A6DB26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F0B505-07CD-DED1-7BDB-D3E99383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4CCC720-B93C-669F-549F-18C9F9EF6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A1D152-6212-4740-8CC2-B12028B4D285}" type="slidenum">
              <a:rPr lang="en-US" altLang="tr-TR" smtClean="0"/>
              <a:pPr/>
              <a:t>11</a:t>
            </a:fld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146375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C18F3231-30D2-BE87-5A17-E28880392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8486" y="1604963"/>
            <a:ext cx="6955028" cy="4572000"/>
          </a:xfrm>
          <a:prstGeom prst="rect">
            <a:avLst/>
          </a:prstGeom>
          <a:noFill/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347EDE53-0412-488A-BCCC-78BBFEFA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b="1" i="0" dirty="0">
                <a:effectLst/>
              </a:rPr>
              <a:t>1.1- </a:t>
            </a:r>
            <a:r>
              <a:rPr lang="tr-TR" b="1" i="0" dirty="0" err="1">
                <a:effectLst/>
              </a:rPr>
              <a:t>Smote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E1C96BB-DE60-A4EF-FAD9-CF585FBD2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908F920-9961-0C20-8D6D-67F577C32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5F7B7F1-918B-374A-F862-7AD1726EA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4605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F4158611-C0D6-69A1-A9D1-2A5FE72D8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433" y="1982268"/>
            <a:ext cx="10983131" cy="3816638"/>
          </a:xfrm>
          <a:prstGeom prst="rect">
            <a:avLst/>
          </a:prstGeom>
          <a:noFill/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ED74A594-D1AB-AB7E-7656-B7B7EEFD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b="1" i="0" dirty="0">
                <a:effectLst/>
              </a:rPr>
              <a:t>1.1- </a:t>
            </a:r>
            <a:r>
              <a:rPr lang="tr-TR" b="1" i="0" dirty="0" err="1">
                <a:effectLst/>
              </a:rPr>
              <a:t>Smote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2831E82-C675-413B-8306-370E53ABB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928E3A4-8387-19D7-8296-FCAA61277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D738B53-B6D1-9E79-0D40-1F4D9E3E0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344101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EC9BF307-A02D-8E21-4031-523F101A9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046" y="1604211"/>
            <a:ext cx="10333905" cy="4572752"/>
          </a:xfrm>
          <a:noFill/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A9F60270-42DD-FC6A-6B99-1D23ED35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b="1" i="0" dirty="0">
                <a:effectLst/>
              </a:rPr>
              <a:t>1.1- </a:t>
            </a:r>
            <a:r>
              <a:rPr lang="tr-TR" b="1" i="0" dirty="0" err="1">
                <a:effectLst/>
              </a:rPr>
              <a:t>Smote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B0C4270-A448-134C-7F8F-024E880F1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648491-3AC9-A4BF-FBE4-1BA4FCA92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5CFFB08-21F1-F82F-CC0F-689BD3C1F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75260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B99E8E6E-DB0E-DEE4-47A4-95D7B407F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433" y="1844979"/>
            <a:ext cx="10983131" cy="4091215"/>
          </a:xfrm>
          <a:noFill/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BADFE0E-2E4C-C871-A627-4CB7C559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b="1" i="0">
                <a:effectLst/>
              </a:rPr>
              <a:t>1.2- ADASYN</a:t>
            </a:r>
            <a:endParaRPr lang="tr-TR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9B0224E-0FE4-100F-4295-6221D2F52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C9C0691-CED1-9DE6-42D5-5F32FC70D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CDA2843-C763-E5A3-73BF-7175F087B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802873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8152DE97-5128-4CFC-A735-9F81FF01A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776" y="1604211"/>
            <a:ext cx="9576444" cy="4572752"/>
          </a:xfrm>
          <a:prstGeom prst="rect">
            <a:avLst/>
          </a:prstGeom>
          <a:noFill/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6A3826A5-23E9-687A-C117-44E67A14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dirty="0" err="1"/>
              <a:t>Over-Sampling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C7D07D-4D2F-97E4-A05C-C4895B292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5F348FA-B4F0-BAAE-57A7-0C5348E43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66DB67-588A-4FA4-8423-34129E7B0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824155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F3C843B7-DD41-EF6E-56F6-2B27DCA4B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3087510"/>
          </a:xfrm>
        </p:spPr>
        <p:txBody>
          <a:bodyPr/>
          <a:lstStyle/>
          <a:p>
            <a:r>
              <a:rPr lang="tr-TR" sz="2000" b="0" i="0" dirty="0">
                <a:effectLst/>
                <a:latin typeface="-apple-system"/>
              </a:rPr>
              <a:t>Ağırlıklı sınıfa ait verileri veri kümesinden çıkartarak dengeli bir veri kümesi elde etmek.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7" name="İçerik Yer Tutucusu 4">
            <a:extLst>
              <a:ext uri="{FF2B5EF4-FFF2-40B4-BE49-F238E27FC236}">
                <a16:creationId xmlns:a16="http://schemas.microsoft.com/office/drawing/2014/main" id="{073C69CA-38AD-2198-5CE8-2BF65BE2E8C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395537" y="1609546"/>
            <a:ext cx="7143905" cy="4464939"/>
          </a:xfrm>
          <a:prstGeom prst="roundRect">
            <a:avLst>
              <a:gd name="adj" fmla="val 3517"/>
            </a:avLst>
          </a:prstGeom>
          <a:noFill/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Başlık 2">
            <a:extLst>
              <a:ext uri="{FF2B5EF4-FFF2-40B4-BE49-F238E27FC236}">
                <a16:creationId xmlns:a16="http://schemas.microsoft.com/office/drawing/2014/main" id="{28C8F61C-4CBC-29FF-96A3-739B19F0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49263"/>
            <a:ext cx="10982325" cy="747712"/>
          </a:xfrm>
        </p:spPr>
        <p:txBody>
          <a:bodyPr wrap="square" anchor="ctr">
            <a:normAutofit/>
          </a:bodyPr>
          <a:lstStyle/>
          <a:p>
            <a:r>
              <a:rPr lang="tr-TR" b="1" i="0">
                <a:effectLst/>
              </a:rPr>
              <a:t>2- Under-</a:t>
            </a:r>
            <a:r>
              <a:rPr lang="tr-TR" b="1" i="0" err="1">
                <a:effectLst/>
              </a:rPr>
              <a:t>Sampling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AEDBAA9-0ADD-2A27-31C2-8630976A1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tr-TR"/>
              <a:t>25 Mayıs, 2022</a:t>
            </a:r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AD60BB9-D193-FB8F-0A72-FC380CCF2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Dengesiz Verisetleri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AA8ABE5-ADFC-31B5-057E-8D882AABC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A1D152-6212-4740-8CC2-B12028B4D285}" type="slidenum">
              <a:rPr lang="en-US" altLang="tr-TR" smtClean="0"/>
              <a:pPr>
                <a:spcAft>
                  <a:spcPts val="600"/>
                </a:spcAft>
              </a:pPr>
              <a:t>17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12197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B2277F6C-A513-997D-2311-249894257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Başlık 3">
            <a:extLst>
              <a:ext uri="{FF2B5EF4-FFF2-40B4-BE49-F238E27FC236}">
                <a16:creationId xmlns:a16="http://schemas.microsoft.com/office/drawing/2014/main" id="{76ED73B5-2152-0C0C-89C2-F2DB0C7F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i="0" dirty="0"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</a:rPr>
              <a:t>Class Weights</a:t>
            </a:r>
            <a:endParaRPr lang="tr-TR" dirty="0">
              <a:solidFill>
                <a:schemeClr val="tx1"/>
              </a:soli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</a:effectLst>
            </a:endParaRP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6E4C5D3-FDA4-261F-9A62-ECC06FB63D1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B647429-74E1-69BD-B1A8-5B5E7EED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Dengesiz Verisetleri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6B298A8-6D00-1628-9F88-04758AC75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A1D152-6212-4740-8CC2-B12028B4D285}" type="slidenum">
              <a:rPr lang="en-US" altLang="tr-TR" smtClean="0"/>
              <a:pPr/>
              <a:t>18</a:t>
            </a:fld>
            <a:endParaRPr lang="en-US" altLang="tr-TR" dirty="0"/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C516B9F8-4031-4AC8-0F5B-FC82E9769F4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İçerik Yer Tutucusu 4">
            <a:extLst>
              <a:ext uri="{FF2B5EF4-FFF2-40B4-BE49-F238E27FC236}">
                <a16:creationId xmlns:a16="http://schemas.microsoft.com/office/drawing/2014/main" id="{5510889A-31A5-645D-2A50-8AF0038D9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6752" y="1507067"/>
            <a:ext cx="6053848" cy="4797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346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824208F1-871A-4992-90BE-16D8EB5E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Dinlediğiniz için teşekkürler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E52E1-DCC8-447C-AF14-EADADA0B9D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2560638"/>
            <a:ext cx="11376025" cy="397668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buClr>
                <a:srgbClr val="A0197D"/>
              </a:buClr>
              <a:buFont typeface="Arial" panose="020B0604020202020204" pitchFamily="34" charset="0"/>
              <a:buNone/>
              <a:defRPr/>
            </a:pPr>
            <a:r>
              <a:rPr lang="tr-TR" sz="2800" dirty="0">
                <a:latin typeface="+mn-lt"/>
              </a:rPr>
              <a:t>Sorular?</a:t>
            </a:r>
          </a:p>
          <a:p>
            <a:pPr marL="0" indent="0" algn="ctr">
              <a:lnSpc>
                <a:spcPct val="100000"/>
              </a:lnSpc>
              <a:buClr>
                <a:srgbClr val="A0197D"/>
              </a:buClr>
              <a:buFont typeface="Arial" panose="020B0604020202020204" pitchFamily="34" charset="0"/>
              <a:buNone/>
              <a:defRPr/>
            </a:pPr>
            <a:endParaRPr lang="tr-TR" sz="2800" dirty="0">
              <a:latin typeface="+mn-lt"/>
            </a:endParaRPr>
          </a:p>
        </p:txBody>
      </p:sp>
      <p:sp>
        <p:nvSpPr>
          <p:cNvPr id="9" name="Veri Yer Tutucusu 1">
            <a:extLst>
              <a:ext uri="{FF2B5EF4-FFF2-40B4-BE49-F238E27FC236}">
                <a16:creationId xmlns:a16="http://schemas.microsoft.com/office/drawing/2014/main" id="{0BAF1573-EB83-4EA9-8A89-3D34C627BA5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25 Mayıs, 2022</a:t>
            </a:r>
            <a:endParaRPr lang="en-US" dirty="0"/>
          </a:p>
        </p:txBody>
      </p:sp>
      <p:sp>
        <p:nvSpPr>
          <p:cNvPr id="10" name="Alt Bilgi Yer Tutucusu 2">
            <a:extLst>
              <a:ext uri="{FF2B5EF4-FFF2-40B4-BE49-F238E27FC236}">
                <a16:creationId xmlns:a16="http://schemas.microsoft.com/office/drawing/2014/main" id="{C4C5C772-8605-43B5-BD64-81EDC0DEE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Dengesiz Verisetleri</a:t>
            </a:r>
            <a:endParaRPr lang="en-US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C176E67-EBFB-46D9-A187-1C7C65AC9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A1D152-6212-4740-8CC2-B12028B4D285}" type="slidenum">
              <a:rPr lang="en-US" altLang="tr-TR" smtClean="0"/>
              <a:pPr/>
              <a:t>19</a:t>
            </a:fld>
            <a:endParaRPr lang="en-US" alt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.potx" id="{BD12D72D-48EF-41E3-A3A3-6CF3839E3215}" vid="{929D624C-289D-4968-84D2-DF23DFCE6C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0FA0FAA1F40A48AFF9B83E7A8535C8" ma:contentTypeVersion="6" ma:contentTypeDescription="Create a new document." ma:contentTypeScope="" ma:versionID="a29564c4913de883a27ffdcfd458aeb5">
  <xsd:schema xmlns:xsd="http://www.w3.org/2001/XMLSchema" xmlns:xs="http://www.w3.org/2001/XMLSchema" xmlns:p="http://schemas.microsoft.com/office/2006/metadata/properties" xmlns:ns2="b348f026-0623-4e77-bd1b-15beed583077" xmlns:ns3="59f4de77-fb23-43c4-8afd-72bf968a030f" targetNamespace="http://schemas.microsoft.com/office/2006/metadata/properties" ma:root="true" ma:fieldsID="474b71ccdbfe1ec76872f436b686490d" ns2:_="" ns3:_="">
    <xsd:import namespace="b348f026-0623-4e77-bd1b-15beed583077"/>
    <xsd:import namespace="59f4de77-fb23-43c4-8afd-72bf968a03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8f026-0623-4e77-bd1b-15beed5830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f4de77-fb23-43c4-8afd-72bf968a030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8A095E-B7E3-4180-B822-1580804BBB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48f026-0623-4e77-bd1b-15beed583077"/>
    <ds:schemaRef ds:uri="59f4de77-fb23-43c4-8afd-72bf968a03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3EC715-993C-49F5-8E24-86E0E8BAEE6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4A6A63-05E9-4317-B106-E6C329E3A2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4378</TotalTime>
  <Words>397</Words>
  <Application>Microsoft Office PowerPoint</Application>
  <PresentationFormat>Geniş ekran</PresentationFormat>
  <Paragraphs>90</Paragraphs>
  <Slides>19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6" baseType="lpstr">
      <vt:lpstr>-apple-system</vt:lpstr>
      <vt:lpstr>Arial</vt:lpstr>
      <vt:lpstr>Calibri</vt:lpstr>
      <vt:lpstr>Segoe UI</vt:lpstr>
      <vt:lpstr>Segoe UI Light</vt:lpstr>
      <vt:lpstr>Wingdings</vt:lpstr>
      <vt:lpstr>Get Started with 3D</vt:lpstr>
      <vt:lpstr>Dengesiz Verisetleri  ve  Başa Çıkma Yöntemleri</vt:lpstr>
      <vt:lpstr>Dengesiz Veri Seti Nedir?</vt:lpstr>
      <vt:lpstr>Dengesiz Veri Seti</vt:lpstr>
      <vt:lpstr>Azınlık Sınıfın tüm veri seti içindeki oranına göre dengesiz veri seti şiddetini de bu ölçeklendirmeye göre yapıyoruz.</vt:lpstr>
      <vt:lpstr>Doğruluk Paradoksu</vt:lpstr>
      <vt:lpstr>Peki modelin değerlendirmesini nasıl yapacağız?</vt:lpstr>
      <vt:lpstr>Aşağıdaki görüntüye de baktığımızda dengesiz bir veri setinin bizi nasıl accuracy parametresi ile yanılttığını net bir şekilde görüyoruz.</vt:lpstr>
      <vt:lpstr>Çözüm yolu olarak ne yapabiliriz?</vt:lpstr>
      <vt:lpstr>Resampling</vt:lpstr>
      <vt:lpstr>Resampling</vt:lpstr>
      <vt:lpstr>1- Over-Sampling</vt:lpstr>
      <vt:lpstr>1.1- Smote</vt:lpstr>
      <vt:lpstr>1.1- Smote</vt:lpstr>
      <vt:lpstr>1.1- Smote</vt:lpstr>
      <vt:lpstr>1.2- ADASYN</vt:lpstr>
      <vt:lpstr>Over-Sampling</vt:lpstr>
      <vt:lpstr>2- Under-Sampling</vt:lpstr>
      <vt:lpstr>Class Weights</vt:lpstr>
      <vt:lpstr>Dinlediğiniz için teşekkürler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ile Programlamaya Giriş</dc:title>
  <dc:creator>Reviewer</dc:creator>
  <cp:lastModifiedBy>Halil İbrahim HATUN</cp:lastModifiedBy>
  <cp:revision>43</cp:revision>
  <dcterms:created xsi:type="dcterms:W3CDTF">2021-10-01T06:11:46Z</dcterms:created>
  <dcterms:modified xsi:type="dcterms:W3CDTF">2022-05-25T14:30:45Z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0x010100500FA0FAA1F40A48AFF9B83E7A8535C8</vt:lpwstr>
  </property>
</Properties>
</file>